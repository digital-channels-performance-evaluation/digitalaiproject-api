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8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0FEE8-0855-444C-B165-0F821CBD739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34526-A8B0-432F-BFB1-04D29ABAD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36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0" y="91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914400" y="2331720"/>
            <a:ext cx="77724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 BANKING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Evaluation </a:t>
            </a:r>
            <a:r>
              <a:rPr lang="en-US" sz="4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Platform for Digital Banking Intelligence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035808"/>
            <a:ext cx="3474720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0723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0723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Department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493008"/>
            <a:ext cx="3474720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5295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94560" y="3529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30723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493008"/>
            <a:ext cx="3474720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35295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3529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48188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8B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000" b="1" dirty="0">
                <a:solidFill>
                  <a:srgbClr val="8B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Intermediation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7498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operates 7+ digital financial products with no unified AI-driven system to measure, score, or benchmark performance. This platform delivers real-time ML intelligence across all channels.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2984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GAPS DRIVING THIS INITIATIVE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1527048"/>
            <a:ext cx="1600200" cy="3017520"/>
          </a:xfrm>
          <a:prstGeom prst="rect">
            <a:avLst/>
          </a:prstGeom>
          <a:solidFill>
            <a:srgbClr val="8B0033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1664208"/>
            <a:ext cx="16002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17739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93192" y="2286000"/>
            <a:ext cx="132588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2377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" y="3108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prioritization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guesswork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993392" y="1527048"/>
            <a:ext cx="1600200" cy="3017520"/>
          </a:xfrm>
          <a:prstGeom prst="rect">
            <a:avLst/>
          </a:prstGeom>
          <a:solidFill>
            <a:srgbClr val="8B0033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993392" y="1664208"/>
            <a:ext cx="16002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993392" y="17739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2130552" y="2286000"/>
            <a:ext cx="132588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84832" y="2377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Attrition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084832" y="3108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fail silently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action is taken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30752" y="1527048"/>
            <a:ext cx="1600200" cy="3017520"/>
          </a:xfrm>
          <a:prstGeom prst="rect">
            <a:avLst/>
          </a:prstGeom>
          <a:solidFill>
            <a:srgbClr val="8B0033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30752" y="1664208"/>
            <a:ext cx="16002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30752" y="17739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3867912" y="2286000"/>
            <a:ext cx="132588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22192" y="2377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822192" y="3108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is not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22392" y="1527048"/>
            <a:ext cx="1600200" cy="3017520"/>
          </a:xfrm>
          <a:prstGeom prst="rect">
            <a:avLst/>
          </a:prstGeom>
          <a:solidFill>
            <a:srgbClr val="8B0033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22392" y="1696212"/>
            <a:ext cx="16002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68112" y="17739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Shape 28"/>
          <p:cNvSpPr/>
          <p:nvPr/>
        </p:nvSpPr>
        <p:spPr>
          <a:xfrm>
            <a:off x="5605272" y="2286000"/>
            <a:ext cx="132588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59552" y="2377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Failures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Aggregated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13832" y="2965026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 reviews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incomplete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14032" y="1527048"/>
            <a:ext cx="1600200" cy="3017520"/>
          </a:xfrm>
          <a:prstGeom prst="rect">
            <a:avLst/>
          </a:prstGeom>
          <a:solidFill>
            <a:srgbClr val="8B0033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114032" y="1641687"/>
            <a:ext cx="16002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05472" y="17739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7" name="Shape 34"/>
          <p:cNvSpPr/>
          <p:nvPr/>
        </p:nvSpPr>
        <p:spPr>
          <a:xfrm>
            <a:off x="7342632" y="2286000"/>
            <a:ext cx="132588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96912" y="2377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296912" y="3108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 reviews 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delayed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 &amp; SUCCESS METRICS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0312" y="593683"/>
            <a:ext cx="4572000" cy="397764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749808"/>
            <a:ext cx="4572000" cy="347472"/>
          </a:xfrm>
          <a:prstGeom prst="rect">
            <a:avLst/>
          </a:prstGeom>
          <a:solidFill>
            <a:srgbClr val="6B0028"/>
          </a:solidFill>
          <a:ln w="12700">
            <a:solidFill>
              <a:srgbClr val="6B00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8046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1243584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188720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0–100 performance scoring for all digital products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1719072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1664208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resource allocation and investment decisions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194560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2139696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detection of underperformance and customer attrition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2670048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2615184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AI-driven executive dashboards and real-time alerts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145536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090672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operational failures and improve digital reliability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3621024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3566160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Ethiopian market in AI-powered digital banking intelligence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65776" y="594360"/>
            <a:ext cx="3803904" cy="3977640"/>
          </a:xfrm>
          <a:prstGeom prst="rect">
            <a:avLst/>
          </a:prstGeom>
          <a:solidFill>
            <a:srgbClr val="8B0033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84064" y="749808"/>
            <a:ext cx="3803904" cy="347472"/>
          </a:xfrm>
          <a:prstGeom prst="rect">
            <a:avLst/>
          </a:prstGeom>
          <a:solidFill>
            <a:srgbClr val="6B0028"/>
          </a:solidFill>
          <a:ln w="12700">
            <a:solidFill>
              <a:srgbClr val="6B00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8046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12080" y="12070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85%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720840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Accuracy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212080" y="1591056"/>
            <a:ext cx="352044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12080" y="16824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Hourly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72084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Refresh Cycle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212080" y="2066544"/>
            <a:ext cx="352044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12080" y="21579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720840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Uptime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212080" y="2542032"/>
            <a:ext cx="352044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12080" y="263347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 min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720840" y="2688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 Time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212080" y="3017520"/>
            <a:ext cx="352044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12080" y="31089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720840" y="31638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Monitored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212080" y="3493008"/>
            <a:ext cx="352044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12080" y="35844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720840" y="3639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PRODUCTS COVERED — PERFORMANCE OVERVIEW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1168" y="758952"/>
            <a:ext cx="2788920" cy="17373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01168" y="758952"/>
            <a:ext cx="2788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608" y="868680"/>
            <a:ext cx="713232" cy="219456"/>
          </a:xfrm>
          <a:prstGeom prst="rect">
            <a:avLst/>
          </a:prstGeom>
          <a:solidFill>
            <a:srgbClr val="8B0033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87782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1161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Banking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2608" y="150876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App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21408" y="868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92608" y="1801368"/>
            <a:ext cx="2606040" cy="146304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2608" y="1801368"/>
            <a:ext cx="2397557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19933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758952"/>
            <a:ext cx="2788920" cy="17373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758952"/>
            <a:ext cx="2788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868680"/>
            <a:ext cx="713232" cy="219456"/>
          </a:xfrm>
          <a:prstGeom prst="rect">
            <a:avLst/>
          </a:prstGeom>
          <a:solidFill>
            <a:srgbClr val="8B0033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7560" y="87782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337560" y="1161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Banking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37560" y="150876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Card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66360" y="868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3337560" y="1801368"/>
            <a:ext cx="2606040" cy="146304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37560" y="1801368"/>
            <a:ext cx="1928470" cy="14630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37560" y="19933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91072" y="758952"/>
            <a:ext cx="2788920" cy="17373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91072" y="758952"/>
            <a:ext cx="2788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82512" y="868680"/>
            <a:ext cx="713232" cy="219456"/>
          </a:xfrm>
          <a:prstGeom prst="rect">
            <a:avLst/>
          </a:prstGeom>
          <a:solidFill>
            <a:srgbClr val="8B0033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82512" y="87782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382512" y="1161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82512" y="150876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Terminal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211312" y="868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6382512" y="1801368"/>
            <a:ext cx="2606040" cy="146304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82512" y="1801368"/>
            <a:ext cx="1563624" cy="14630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19933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01168" y="2670048"/>
            <a:ext cx="2788920" cy="17373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01168" y="2670048"/>
            <a:ext cx="2788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92608" y="2779776"/>
            <a:ext cx="713232" cy="219456"/>
          </a:xfrm>
          <a:prstGeom prst="rect">
            <a:avLst/>
          </a:prstGeom>
          <a:solidFill>
            <a:srgbClr val="8B0033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92608" y="27889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92608" y="3072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292608" y="341985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Terminal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121408" y="27797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292608" y="3712464"/>
            <a:ext cx="2606040" cy="146304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92608" y="3712464"/>
            <a:ext cx="1772107" cy="14630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92608" y="390448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246120" y="2670048"/>
            <a:ext cx="2788920" cy="17373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246120" y="2670048"/>
            <a:ext cx="2788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337560" y="2779776"/>
            <a:ext cx="713232" cy="219456"/>
          </a:xfrm>
          <a:prstGeom prst="rect">
            <a:avLst/>
          </a:prstGeom>
          <a:solidFill>
            <a:srgbClr val="8B0033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337560" y="27889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337560" y="3072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Payment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3337560" y="341985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Scan-to-Pay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166360" y="27797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</a:t>
            </a:r>
            <a:endParaRPr lang="en-US" sz="2200" dirty="0"/>
          </a:p>
        </p:txBody>
      </p:sp>
      <p:sp>
        <p:nvSpPr>
          <p:cNvPr id="55" name="Shape 52"/>
          <p:cNvSpPr/>
          <p:nvPr/>
        </p:nvSpPr>
        <p:spPr>
          <a:xfrm>
            <a:off x="3337560" y="3712464"/>
            <a:ext cx="2606040" cy="146304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337560" y="3712464"/>
            <a:ext cx="2110892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337560" y="390448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6291072" y="2670048"/>
            <a:ext cx="2788920" cy="17373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291072" y="2670048"/>
            <a:ext cx="2788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382512" y="2779776"/>
            <a:ext cx="713232" cy="219456"/>
          </a:xfrm>
          <a:prstGeom prst="rect">
            <a:avLst/>
          </a:prstGeom>
          <a:solidFill>
            <a:srgbClr val="8B0033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382512" y="27889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382512" y="3072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Wallet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6382512" y="341985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Platform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8211312" y="27797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2200" dirty="0"/>
          </a:p>
        </p:txBody>
      </p:sp>
      <p:sp>
        <p:nvSpPr>
          <p:cNvPr id="65" name="Shape 62"/>
          <p:cNvSpPr/>
          <p:nvPr/>
        </p:nvSpPr>
        <p:spPr>
          <a:xfrm>
            <a:off x="6382512" y="3712464"/>
            <a:ext cx="2606040" cy="146304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382512" y="3712464"/>
            <a:ext cx="1355141" cy="146304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382512" y="390448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5-LAYER ML PIPELINE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749808"/>
            <a:ext cx="8631936" cy="640080"/>
          </a:xfrm>
          <a:prstGeom prst="rect">
            <a:avLst/>
          </a:prstGeom>
          <a:solidFill>
            <a:srgbClr val="6B0028"/>
          </a:solidFill>
          <a:ln w="127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749808"/>
            <a:ext cx="914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85953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051560" y="859536"/>
            <a:ext cx="0" cy="420624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804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0432" y="107899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raw data from Core Banking, digital channel logs, CRM &amp; IT monitoring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389120" y="135331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" y="1508760"/>
            <a:ext cx="8631936" cy="640080"/>
          </a:xfrm>
          <a:prstGeom prst="rect">
            <a:avLst/>
          </a:prstGeom>
          <a:solidFill>
            <a:srgbClr val="8B0033"/>
          </a:solidFill>
          <a:ln w="127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1508760"/>
            <a:ext cx="914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161848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1051560" y="1618488"/>
            <a:ext cx="0" cy="420624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70432" y="1563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70432" y="183794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Preprocesses, cleans &amp; engineers features — outlier handling, normalization, derived KPIs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389120" y="21122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6032" y="2267712"/>
            <a:ext cx="8631936" cy="640080"/>
          </a:xfrm>
          <a:prstGeom prst="rect">
            <a:avLst/>
          </a:prstGeom>
          <a:solidFill>
            <a:srgbClr val="A0003C"/>
          </a:solidFill>
          <a:ln w="127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56032" y="2267712"/>
            <a:ext cx="914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2377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1051560" y="2377440"/>
            <a:ext cx="0" cy="420624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70432" y="23225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Layer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70432" y="259689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Ridge Regression &amp; KNN produce composite 0–100 performance scores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389120" y="28712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56032" y="3026664"/>
            <a:ext cx="8631936" cy="640080"/>
          </a:xfrm>
          <a:prstGeom prst="rect">
            <a:avLst/>
          </a:prstGeom>
          <a:solidFill>
            <a:srgbClr val="8B0033"/>
          </a:solidFill>
          <a:ln w="127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56032" y="3026664"/>
            <a:ext cx="914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3136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1051560" y="3136392"/>
            <a:ext cx="0" cy="420624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70432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Layer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170432" y="3355848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smtClean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endpoints </a:t>
            </a:r>
            <a:r>
              <a:rPr lang="en-US" sz="10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(/scores, /rankings, /alerts, /recommendations) with API-key authentication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389120" y="36301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56032" y="3785616"/>
            <a:ext cx="8631936" cy="640080"/>
          </a:xfrm>
          <a:prstGeom prst="rect">
            <a:avLst/>
          </a:prstGeom>
          <a:solidFill>
            <a:srgbClr val="6B0028"/>
          </a:solidFill>
          <a:ln w="127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56032" y="3785616"/>
            <a:ext cx="914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5760" y="389534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1051560" y="3895344"/>
            <a:ext cx="0" cy="420624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70432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170432" y="411480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dashboard, PDF/Excel report generation &amp; real-time alert notification system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PREDICTIVE FEATURES — MODEL INPUT SIGNALS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engineered features carry the highest predictive weight in the performance classification model: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1168" y="1078992"/>
            <a:ext cx="4297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1168" y="1078992"/>
            <a:ext cx="91440" cy="10515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7288" y="1133856"/>
            <a:ext cx="960120" cy="201168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47288" y="1133856"/>
            <a:ext cx="912114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11338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 Rate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14173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active_users / total_users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65760" y="16459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predictor — real engagement vs. mere registration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81728" y="1078992"/>
            <a:ext cx="4297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81728" y="1078992"/>
            <a:ext cx="91440" cy="10515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27848" y="1133856"/>
            <a:ext cx="960120" cy="201168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27848" y="1133856"/>
            <a:ext cx="88331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27848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6320" y="11338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Transaction 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46320" y="14173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failed_txn / total_txn × 100%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46320" y="16459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NEGATIVE indicator — user trust &amp; product reliability signal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01168" y="2267712"/>
            <a:ext cx="4297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01168" y="2267712"/>
            <a:ext cx="91440" cy="10515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47288" y="2322576"/>
            <a:ext cx="960120" cy="201168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47288" y="2322576"/>
            <a:ext cx="844906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47288" y="253288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23225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Active User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65760" y="26060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revenue_etb / active_users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65760" y="2834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efficiency — captures value per engaged user, not just volume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81728" y="2267712"/>
            <a:ext cx="4297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81728" y="2267712"/>
            <a:ext cx="91440" cy="10515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27848" y="2322576"/>
            <a:ext cx="960120" cy="201168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27848" y="2322576"/>
            <a:ext cx="816102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27848" y="253288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46320" y="23225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Downtime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846320" y="26060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downtime_min / (30×24×60) × 100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834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short outages significantly impact retention &amp; complaint volumes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01168" y="3456432"/>
            <a:ext cx="4297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201168" y="3456432"/>
            <a:ext cx="91440" cy="10515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47288" y="3511296"/>
            <a:ext cx="960120" cy="201168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47288" y="3511296"/>
            <a:ext cx="78729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47288" y="37216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365760" y="3511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Growth Rate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5760" y="37947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change in complaint_volume (%)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365760" y="40233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attrition signal — month-on-month rise triggers LOW tier risk flag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681728" y="3456432"/>
            <a:ext cx="4297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681728" y="3456432"/>
            <a:ext cx="91440" cy="10515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27848" y="3511296"/>
            <a:ext cx="960120" cy="201168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927848" y="3511296"/>
            <a:ext cx="748894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927848" y="37216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846320" y="3511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Score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4846320" y="37947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downtime + failure rate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846320" y="40233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aggregated risk metric combining two core operational health signals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&amp; VALIDATION BENCHMARK RESULTS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1168" y="749808"/>
            <a:ext cx="2834640" cy="397764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01168" y="749808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" y="749808"/>
            <a:ext cx="2834640" cy="457200"/>
          </a:xfrm>
          <a:prstGeom prst="rect">
            <a:avLst/>
          </a:prstGeom>
          <a:solidFill>
            <a:srgbClr val="6B0028"/>
          </a:solidFill>
          <a:ln w="12700">
            <a:solidFill>
              <a:srgbClr val="6B00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804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" y="12618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Classification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/ MEDIUM / LOW)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" y="1664208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173736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fast, well-suited for multi-class classification with structured tabular data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" y="2340864"/>
            <a:ext cx="256032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" y="2395728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grid search {0.001–10} | solver: lbfgs | max_iter: 1000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8328" y="2852928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" y="29443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618488" y="2944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8328" y="32826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18488" y="3282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8328" y="3621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618488" y="3621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8328" y="39593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618488" y="3959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0" y="749808"/>
            <a:ext cx="2834640" cy="397764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0" y="749808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0" y="749808"/>
            <a:ext cx="2834640" cy="45720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804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(Ridge)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291840" y="12618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Prediction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– 100 continuous)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37560" y="1664208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10128" y="173736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performance score baseline with feature coefficient interpretability via RFE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337560" y="2340864"/>
            <a:ext cx="256032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10128" y="2395728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{0.1, 1.0, 10.0} | Feature selection: Recursive Feature Elimination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337560" y="2852928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37560" y="29443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17720" y="2944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337560" y="32826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617720" y="3282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337560" y="3621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617720" y="3621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337560" y="39593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617720" y="3959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199632" y="749808"/>
            <a:ext cx="2834640" cy="397764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199632" y="749808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99632" y="749808"/>
            <a:ext cx="2834640" cy="457200"/>
          </a:xfrm>
          <a:prstGeom prst="rect">
            <a:avLst/>
          </a:prstGeom>
          <a:solidFill>
            <a:srgbClr val="A0003C"/>
          </a:solidFill>
          <a:ln w="12700">
            <a:solidFill>
              <a:srgbClr val="A0003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91072" y="804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(K=7)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291072" y="12618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336792" y="1664208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09360" y="173736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products with similar performance profiles, enabling peer-comparison insights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336792" y="2340864"/>
            <a:ext cx="2560320" cy="0"/>
          </a:xfrm>
          <a:prstGeom prst="line">
            <a:avLst/>
          </a:prstGeom>
          <a:noFill/>
          <a:ln w="6350">
            <a:solidFill>
              <a:srgbClr val="A0003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09360" y="2395728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{3,5,7,9,11} cross-validated | Distance: Euclidean | Weighting: distance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336792" y="2852928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36792" y="29443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7616952" y="2944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336792" y="32826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7616952" y="3282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336792" y="3621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7616952" y="3621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336792" y="39593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7616952" y="3959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AI GOVERNANCE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1168" y="617220"/>
            <a:ext cx="2834640" cy="397764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01168" y="749808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" y="749808"/>
            <a:ext cx="2834640" cy="384048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804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" y="1170432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37160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128016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for all data in transit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1847088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" y="1755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for data at rest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322576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223113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2798064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" y="270662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for dashboard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27355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" y="31821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expiry: 30 min inactivity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5760" y="374904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" y="36576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calls logged for audit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00400" y="627041"/>
            <a:ext cx="2834640" cy="397764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0" y="749808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0" y="749808"/>
            <a:ext cx="2834640" cy="384048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91840" y="804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337560" y="1170432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64992" y="137160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84448" y="128016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— aggregated metrics only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364992" y="1847088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84448" y="1755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principle enforced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364992" y="2322576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84448" y="223113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NBE directives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364992" y="2798064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84448" y="270662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within bank infrastructure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364992" y="327355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84448" y="31821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audit trail preserved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364992" y="374904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584448" y="36576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rotated every 90 days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199632" y="582930"/>
            <a:ext cx="2834640" cy="3977640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199632" y="749808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99632" y="749808"/>
            <a:ext cx="2834640" cy="384048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91072" y="804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336792" y="1170432"/>
            <a:ext cx="256032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64224" y="137160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83680" y="128016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bias review per model version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364224" y="1847088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83680" y="1755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for all LOW designations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364224" y="2322576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83680" y="223113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appeal process (5 business days)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364224" y="2798064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83680" y="270662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augments — never replaces judgment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6364224" y="327355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83680" y="31821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GitHub version control + CI/CD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6364224" y="374904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583680" y="36576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governance framework review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PERFORMANCE RANKINGS &amp; AI RECOMMENDATIONS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 S.C.  |  AI Digital Product Evaluation  |  Confidential — Internal Use Only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" y="7132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6032" y="10424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1106424"/>
            <a:ext cx="2880360" cy="164592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40280" y="1106424"/>
            <a:ext cx="2649931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7488" y="104241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1069848"/>
            <a:ext cx="77724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10789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6032" y="1636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40280" y="1700784"/>
            <a:ext cx="2880360" cy="164592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40280" y="1700784"/>
            <a:ext cx="2333092" cy="16459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63677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23560" y="1664208"/>
            <a:ext cx="77724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167335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56032" y="2231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Banking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40280" y="2295144"/>
            <a:ext cx="2880360" cy="164592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40280" y="2295144"/>
            <a:ext cx="2131466" cy="1645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47488" y="223113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623560" y="2258568"/>
            <a:ext cx="777240" cy="21945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23560" y="22677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56032" y="2825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240280" y="2889504"/>
            <a:ext cx="2880360" cy="164592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40280" y="2889504"/>
            <a:ext cx="1958645" cy="1645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47488" y="282549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623560" y="2852928"/>
            <a:ext cx="777240" cy="21945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23560" y="28620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56032" y="34198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240280" y="3483864"/>
            <a:ext cx="2880360" cy="164592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40280" y="3483864"/>
            <a:ext cx="1728216" cy="16459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47488" y="341985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623560" y="3447288"/>
            <a:ext cx="777240" cy="21945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23560" y="345643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56032" y="40142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240280" y="4078224"/>
            <a:ext cx="2880360" cy="164592"/>
          </a:xfrm>
          <a:prstGeom prst="rect">
            <a:avLst/>
          </a:prstGeom>
          <a:solidFill>
            <a:srgbClr val="3D4152"/>
          </a:solidFill>
          <a:ln w="12700">
            <a:solidFill>
              <a:srgbClr val="3D415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240280" y="4078224"/>
            <a:ext cx="1497787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47488" y="401421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623560" y="4041648"/>
            <a:ext cx="777240" cy="21945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23560" y="40507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473952" y="617220"/>
            <a:ext cx="2395728" cy="4005072"/>
          </a:xfrm>
          <a:prstGeom prst="rect">
            <a:avLst/>
          </a:prstGeom>
          <a:solidFill>
            <a:srgbClr val="1A1A1A"/>
          </a:solidFill>
          <a:ln w="1524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492240" y="713232"/>
            <a:ext cx="2395728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92240" y="713232"/>
            <a:ext cx="2395728" cy="365760"/>
          </a:xfrm>
          <a:prstGeom prst="rect">
            <a:avLst/>
          </a:prstGeom>
          <a:solidFill>
            <a:srgbClr val="8B0033"/>
          </a:solidFill>
          <a:ln w="12700">
            <a:solidFill>
              <a:srgbClr val="8B00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65392" y="76809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565392" y="1115568"/>
            <a:ext cx="224028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65392" y="120700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565392" y="140817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trajectory. Scale feature set and marketing.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565392" y="170992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Payment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565392" y="191109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merchant network to increase transaction volume.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565392" y="221284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Banking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565392" y="241401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reduce failed card transaction rate.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565392" y="271576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565392" y="291693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merchant onboarding and device uptime.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565392" y="321868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6565392" y="341985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ATM downtime.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improvement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565392" y="372160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565392" y="392277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onboarding flow. Address complaint volume.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0" y="91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Bank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1371600" y="1920240"/>
            <a:ext cx="640080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0299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 Banking Product Evaluation System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192024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651760"/>
            <a:ext cx="19202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74320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Digital 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24/7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0" y="2651760"/>
            <a:ext cx="192024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2651760"/>
            <a:ext cx="19202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274320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Scores: 0–100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Hourly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651760"/>
            <a:ext cx="192024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651760"/>
            <a:ext cx="19202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74320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2651760"/>
            <a:ext cx="192024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66560" y="2651760"/>
            <a:ext cx="19202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274320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Built-In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188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Department  |  Ahadu Bank S.C.  |  Confidential — Internal Use Only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4818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8B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000" b="1" dirty="0">
                <a:solidFill>
                  <a:srgbClr val="8B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Intermediation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1025</Words>
  <Application>Microsoft Office PowerPoint</Application>
  <PresentationFormat>On-screen Show (16:9)</PresentationFormat>
  <Paragraphs>259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Ahadu Bank AI Digital Product Evaluation</dc:title>
  <dc:subject>PptxGenJS Presentation</dc:subject>
  <dc:creator>PptxGenJS</dc:creator>
  <cp:lastModifiedBy>ismail - [2010]</cp:lastModifiedBy>
  <cp:revision>9</cp:revision>
  <dcterms:created xsi:type="dcterms:W3CDTF">2026-05-29T11:15:29Z</dcterms:created>
  <dcterms:modified xsi:type="dcterms:W3CDTF">2026-06-02T12:28:05Z</dcterms:modified>
</cp:coreProperties>
</file>