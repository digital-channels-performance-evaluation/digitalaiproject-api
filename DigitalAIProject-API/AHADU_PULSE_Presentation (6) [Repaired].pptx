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-31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43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2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A01535">
              <a:alpha val="45000"/>
            </a:srgbClr>
          </a:solidFill>
          <a:ln w="12700">
            <a:solidFill>
              <a:srgbClr val="A0153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C41E3A">
              <a:alpha val="30000"/>
            </a:srgbClr>
          </a:solidFill>
          <a:ln w="12700">
            <a:solidFill>
              <a:srgbClr val="C41E3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2926080" cy="5715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75488"/>
            <a:ext cx="1828800" cy="292608"/>
          </a:xfrm>
          <a:prstGeom prst="rect">
            <a:avLst>
              <a:gd name="adj" fmla="val 15625"/>
            </a:avLst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41" y="475488"/>
            <a:ext cx="7513427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 &amp; The 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931920" cy="347472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  THE CHALLENGE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No unified system to measure 6 digital products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All performance reviews were manual &amp; delayed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Inconsistent scoring across product channels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 early-warning system for product degradation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Zero forward-looking predictions available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97280"/>
            <a:ext cx="3749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✓  AHADU PULSE DELIVERS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Collects monthly KPIs from all 6 products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Engineers 12 predictive ML features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Scores products on a 0–100 standardised scale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Classifies HIGH / MEDIUM / LOW with 5 ML models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Generates 3-month forward predictions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Delivers real-time executive dashboards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25112" y="2651760"/>
            <a:ext cx="493776" cy="45720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25112" y="2423160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01535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MONITORED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Digital Financial Products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2468880" cy="29260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Mobile Banking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12648" y="1490472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Mobile Banking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21945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MOBILE_01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" y="2468880"/>
            <a:ext cx="411480" cy="16459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4688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43000"/>
            <a:ext cx="2468880" cy="29260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Card Banking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490472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Card Banking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1945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CARD_01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55848" y="2468880"/>
            <a:ext cx="411480" cy="16459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4688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89320" y="114300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9320" y="1143000"/>
            <a:ext cx="2468880" cy="29260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143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ATM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99048" y="1490472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ATM Network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99048" y="21945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ATM_01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99048" y="2468880"/>
            <a:ext cx="411480" cy="16459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24688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02920" y="297180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971800"/>
            <a:ext cx="2468880" cy="29260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" y="3319272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POS System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" y="40233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POS_01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" y="4297680"/>
            <a:ext cx="411480" cy="16459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" y="4297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46120" y="297180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2971800"/>
            <a:ext cx="2468880" cy="29260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QR Payment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55848" y="3319272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QR Pay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55848" y="40233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QR_01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55848" y="4297680"/>
            <a:ext cx="411480" cy="16459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55848" y="4297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989320" y="2971800"/>
            <a:ext cx="24688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989320" y="2971800"/>
            <a:ext cx="2468880" cy="29260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9320" y="2971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Digital Wallet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99048" y="3319272"/>
            <a:ext cx="224942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Digital Wallet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99048" y="4023360"/>
            <a:ext cx="2249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WALLET_01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99048" y="4297680"/>
            <a:ext cx="411480" cy="16459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429768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Active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Modern, Production-Grade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651760" cy="38404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51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08760"/>
            <a:ext cx="2423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0.111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5.4 + Redis 7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/ Scikit-learn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+ XlsxWriter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(HS256) + TOTP MFA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26517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51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1508760"/>
            <a:ext cx="2423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5.6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2.13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Table 8.20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5 + Axios 1.7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 + Zod + react-hook-form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51560"/>
            <a:ext cx="2651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0515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INFRASTRUCTURE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9048" y="1508760"/>
            <a:ext cx="242316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(primary DB)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alpine (cache/queue)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24 + Compose 2.x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(reverse proxy + rate limit)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8-core / 32GB RAM server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7-Service Docker Deployment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371600" cy="8229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88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Browser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Client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0020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1188720"/>
            <a:ext cx="1371600" cy="822960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1188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Nginx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:80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9000" y="1188720"/>
            <a:ext cx="1371600" cy="822960"/>
          </a:xfrm>
          <a:prstGeom prst="rect">
            <a:avLst/>
          </a:prstGeom>
          <a:solidFill>
            <a:srgbClr val="7D1028"/>
          </a:solidFill>
          <a:ln w="12700">
            <a:solidFill>
              <a:srgbClr val="7D10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1188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:8000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188720"/>
            <a:ext cx="13716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188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Services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1188720"/>
            <a:ext cx="137160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1188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:3306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331720"/>
            <a:ext cx="13716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29000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Celery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Worker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078224" y="2011680"/>
            <a:ext cx="73152" cy="320040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2331720"/>
            <a:ext cx="137160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0" y="233172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Redis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:6379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331720"/>
            <a:ext cx="228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0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4320" y="3246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1535"/>
                </a:solidFill>
              </a:rPr>
              <a:t>Scheduled Tasks: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547872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01:00 — Feature Engineering (all unprocessed records)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03:00 — Score all products, generate recommendations &amp; alerts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02:00 — Drift check + auto-retrain if ≥4 weeks since last training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2331720"/>
            <a:ext cx="2194560" cy="73152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3317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7 Roles — RBAC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super_admin → compliance_team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 ENGINEERING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 Predictive Features from Raw KPIs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4747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088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active_user_rate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344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active_users / total_users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09928"/>
            <a:ext cx="34747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0992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1746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failed_txn_rate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0025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/ total transactions 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6829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68296"/>
            <a:ext cx="34747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68296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2404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revenue_per_txn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26609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total_revenue / total_transactions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02666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26664"/>
            <a:ext cx="34747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26664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revenue_per_active_user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319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total_revenue / active_users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68503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685032"/>
            <a:ext cx="34747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85032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5800" y="3721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downtime_impact_score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downtime_min / (30×24×60) × 100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3434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343400"/>
            <a:ext cx="34747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3434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5800" y="4379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complaint_growth_rate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636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 change in complaints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0515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1051560"/>
            <a:ext cx="34747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105156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0640" y="1088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complaint_resolution_rate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13441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/ total_complaints × 100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170992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1709928"/>
            <a:ext cx="34747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1709928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20640" y="1746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fraud_incidents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200253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fraud_event_count pass-through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236829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2368296"/>
            <a:ext cx="34747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2368296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120640" y="2404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api_error_rate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20640" y="266090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api_error_rate % pass-through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02666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026664"/>
            <a:ext cx="34747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026664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120640" y="3063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user_engagement_index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20640" y="3319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active_user_rate × total_transactions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368503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09160" y="3685032"/>
            <a:ext cx="34747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685032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120640" y="3721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avg_session_duration_sec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12064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from avg_response_time_ms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9160" y="43434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709160" y="4343400"/>
            <a:ext cx="34747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9160" y="4343400"/>
            <a:ext cx="347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5120640" y="4379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csat_score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120640" y="46360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 (1–5)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500K Rows → 5 Models → Production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207008"/>
            <a:ext cx="640080" cy="640080"/>
          </a:xfrm>
          <a:prstGeom prst="ellipse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331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 train / 100K test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Jun 2025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83080" y="1600200"/>
            <a:ext cx="210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93392" y="10972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207008"/>
            <a:ext cx="640080" cy="640080"/>
          </a:xfrm>
          <a:prstGeom prst="ellipse">
            <a:avLst/>
          </a:prstGeom>
          <a:solidFill>
            <a:srgbClr val="7D1028"/>
          </a:solidFill>
          <a:ln w="12700">
            <a:solidFill>
              <a:srgbClr val="7D10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66544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331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3σ winsorisation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scaling [0,1]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σ=0.08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02152" y="1600200"/>
            <a:ext cx="210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12464" y="10972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42232" y="120700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42232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85616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 Models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85616" y="2331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Ridge · KNN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21224" y="1600200"/>
            <a:ext cx="210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31536" y="10972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61304" y="1207008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61304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04688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2331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F1 · R²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CV 5-fold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40296" y="1600200"/>
            <a:ext cx="210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01535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50608" y="1097280"/>
            <a:ext cx="1508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80376" y="1207008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0376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1920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Validate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23760" y="233172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threshold checks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✅ PASSED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114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1535"/>
                </a:solidFill>
              </a:rPr>
              <a:t>Preprocessing Detail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40050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4233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Median fill (train set only)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14600" y="40050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Outliers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14600" y="4233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±3σ winsorisation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17720" y="40050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Scaling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17720" y="4233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Min-Max fit on train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20840" y="4005072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Noise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20840" y="4233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Gaussian σ=0.08 (simulates real error)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BRD Thresholds ✅ PASSED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1572768" cy="320040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1752" y="14173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9202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Classifier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" y="2212848"/>
            <a:ext cx="1426464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221284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99.70%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" y="246888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Accuracy / R²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" y="27432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F1: 0.9970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01752" y="29718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MAE: 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" y="3246120"/>
            <a:ext cx="1060704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24612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✅ BRD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PASSED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47672" y="105156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47672" y="1051560"/>
            <a:ext cx="1572768" cy="320040"/>
          </a:xfrm>
          <a:prstGeom prst="rect">
            <a:avLst/>
          </a:prstGeom>
          <a:solidFill>
            <a:srgbClr val="7D1028"/>
          </a:solidFill>
          <a:ln w="12700">
            <a:solidFill>
              <a:srgbClr val="7D10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47672" y="10515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20824" y="14173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20824" y="19202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Predictor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20824" y="2212848"/>
            <a:ext cx="1426464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0824" y="221284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R²: 0.9577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20824" y="246888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Accuracy / R²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020824" y="27432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F1: 0.9559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20824" y="29718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MAE: 3.09 pts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03704" y="3246120"/>
            <a:ext cx="1060704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03704" y="324612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✅ BRD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PASSED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66744" y="105156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66744" y="1051560"/>
            <a:ext cx="1572768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10515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39896" y="14173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Similarity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39896" y="19202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Similarity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39896" y="2212848"/>
            <a:ext cx="1426464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9896" y="221284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99.60%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39896" y="246888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Accuracy / R²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739896" y="27432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F1: 0.9960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39896" y="29718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k=7, euclidean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22776" y="3246120"/>
            <a:ext cx="1060704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22776" y="324612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✅ BRD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PASSED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85816" y="105156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85816" y="1051560"/>
            <a:ext cx="157276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5816" y="10515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58968" y="14173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58968" y="19202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Classifier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58968" y="2212848"/>
            <a:ext cx="1426464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58968" y="221284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99.23%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58968" y="246888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Accuracy / R²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58968" y="27432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F1: 0.9923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58968" y="29718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100 trees, depth=6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41848" y="3246120"/>
            <a:ext cx="1060704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41848" y="324612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✅ BRD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PASSED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104888" y="1051560"/>
            <a:ext cx="157276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104888" y="1051560"/>
            <a:ext cx="1572768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4888" y="1051560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5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178040" y="1417320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178040" y="192024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Classifier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040" y="2212848"/>
            <a:ext cx="1426464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040" y="2212848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</a:rPr>
              <a:t>95.17%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178040" y="2468880"/>
            <a:ext cx="14264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6A34A"/>
                </a:solidFill>
              </a:rPr>
              <a:t>Accuracy / R²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178040" y="27432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93B"/>
                </a:solidFill>
              </a:rPr>
              <a:t>F1: 0.9517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178040" y="2971800"/>
            <a:ext cx="14264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depth=5, gini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60920" y="3246120"/>
            <a:ext cx="1060704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60920" y="3246120"/>
            <a:ext cx="1060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✅ BRD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PASSED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28600" y="4023360"/>
            <a:ext cx="8686800" cy="82296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1480" y="402336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 rows  </a:t>
            </a:r>
            <a:r>
              <a:rPr lang="en-US" sz="1050" dirty="0">
                <a:solidFill>
                  <a:srgbClr val="E9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 rows  </a:t>
            </a:r>
            <a:r>
              <a:rPr lang="en-US" sz="1050" dirty="0">
                <a:solidFill>
                  <a:srgbClr val="E9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misclassifications (LR):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/ 100,000 (0.30%)  </a:t>
            </a:r>
            <a:r>
              <a:rPr lang="en-US" sz="1050" dirty="0">
                <a:solidFill>
                  <a:srgbClr val="E9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v20260604_120849  •  90.8s total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Drives Product Performance?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0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failed_txn_rate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463040"/>
            <a:ext cx="1828800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1463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19%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8013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active_user_rate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1847088"/>
            <a:ext cx="1761423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1703" y="18470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18.3%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1854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csat_score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2231136"/>
            <a:ext cx="1742173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2453" y="22311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18.1%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5694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downtime_impact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2615184"/>
            <a:ext cx="1203158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3438" y="26151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12.5%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2953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complaint_resolution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2999232"/>
            <a:ext cx="1203158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3438" y="29992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12.5%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api_error_rate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3383280"/>
            <a:ext cx="779646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9926" y="33832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8.1%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0040" y="3721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fraud_incidents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3767328"/>
            <a:ext cx="539015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295" y="37673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5.6%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41056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complaint_growth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94560" y="4151376"/>
            <a:ext cx="250257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90537" y="4151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2.6%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0040" y="44897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user_engagement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4535424"/>
            <a:ext cx="192505" cy="201168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32785" y="45354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1535"/>
                </a:solidFill>
              </a:rPr>
              <a:t>2%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Coefficients (|coef|)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1463040"/>
            <a:ext cx="2286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146304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1417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active_user_rate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95160" y="1463040"/>
            <a:ext cx="164592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0" y="14630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13.85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1847088"/>
            <a:ext cx="2286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184708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20640" y="18013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csat_score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95160" y="1847088"/>
            <a:ext cx="1458154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99034" y="18470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12.27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2231136"/>
            <a:ext cx="2286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2311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20640" y="21854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complaint_resolution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95160" y="2231136"/>
            <a:ext cx="139635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37238" y="223113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11.75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2615184"/>
            <a:ext cx="228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261518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−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20640" y="25694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failed_txn_rate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95160" y="2615184"/>
            <a:ext cx="11206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61532" y="26151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9.43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846320" y="2999232"/>
            <a:ext cx="228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299923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20640" y="29535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fraud_incidents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95160" y="2999232"/>
            <a:ext cx="1105203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46083" y="29992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9.3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846320" y="3383280"/>
            <a:ext cx="228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33832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−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120640" y="3337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api_error_rate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95160" y="3383280"/>
            <a:ext cx="936451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77331" y="33832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7.88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46320" y="3767328"/>
            <a:ext cx="228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37673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−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120640" y="37216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complaint_growth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995160" y="3767328"/>
            <a:ext cx="844945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85825" y="37673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7.11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846320" y="4151376"/>
            <a:ext cx="228600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415137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−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20640" y="41056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downtime_impact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995160" y="4151376"/>
            <a:ext cx="686889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27769" y="415137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5.78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46320" y="4535424"/>
            <a:ext cx="2286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846320" y="45354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120640" y="44897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avg_session_dur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995160" y="4535424"/>
            <a:ext cx="518138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559018" y="45354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4.36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10-Page Frontend — Next.js 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08813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1380744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charts, rankings, alerts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8196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185623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2148840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detail: score history, similar products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5877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262432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2916936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medals, trend arrows, peer comparison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3558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" y="339242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368503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Critical/High/Medium/Low feed + resolve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1239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6112" y="416052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" y="4453128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 items by priority + acknowledge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05156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161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30952" y="1088136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30952" y="1380744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PDF / Excel / CSV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181965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1929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30952" y="1856232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Management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30952" y="2148840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5-model registry, feature importance, drift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258775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30952" y="2624328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History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30952" y="2916936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table with tier change badges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35584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30952" y="3392424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30952" y="3685032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Drag-drop CSV/XLSX upload + feature engineering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41239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0060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30952" y="4160520"/>
            <a:ext cx="3401568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30952" y="4453128"/>
            <a:ext cx="3401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user management (super_admin only)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10 ROUTERS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localhost:8000/api/{resource}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78992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74520" y="1078992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Login, refresh, logout, /me — JWT + TOTP MFA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06640" y="1078992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POST×4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458468"/>
            <a:ext cx="859536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458468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1458468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74520" y="1458468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User CRUD — super_admin only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406640" y="1458468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GET/POST/PUT/DELETE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37944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837944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837944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/products/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74520" y="1837944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List, detail + 12-mo history, CRUD, similar products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06640" y="1837944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GET×3 + CRUD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217420"/>
            <a:ext cx="859536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217420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2217420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/scores/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2217420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Score list, dashboard KPIs, 5 chart time-series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2217420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GET×4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596896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596896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" y="2596896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/rankings/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74520" y="2596896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All products ranked by latest score with trend arrow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06640" y="2596896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976372"/>
            <a:ext cx="859536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976372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2976372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/alerts/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874520" y="2976372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Alert feed (filter), resolve, severity summary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06640" y="2976372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GET×2 + POST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355848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355848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355848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/recommendations/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74520" y="3355848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AI action items, acknowledge by PM/exec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406640" y="3355848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 + POST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4320" y="3735324"/>
            <a:ext cx="859536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3735324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3735324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/ml/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874520" y="3735324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Train 5 models, predict, retrain, registry, drift, KNN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06640" y="3735324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GET×3 + POST×3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4114800"/>
            <a:ext cx="8595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320" y="4114800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" y="4114800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/data/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74520" y="4114800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CSV/XLSX upload, validate, manual entry, raw + features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406640" y="4114800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GET×2 + POST×4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494276"/>
            <a:ext cx="8595360" cy="3383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4494276"/>
            <a:ext cx="1508760" cy="338328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2608" y="4494276"/>
            <a:ext cx="1490472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/reports/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874520" y="4494276"/>
            <a:ext cx="548640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Weekly/monthly PDF·Excel·CSV download + report list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406640" y="4494276"/>
            <a:ext cx="1463040" cy="338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A01535"/>
                </a:solidFill>
              </a:rPr>
              <a:t>GET×3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NBE Compliance Ready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365760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Authentication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17904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(cost factor 12) password hashing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HS256: 30-min access / 7-day refresh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 via pyotp (base32 per user)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limiting: 60 req/min / 10 req/min on /auth/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78992"/>
            <a:ext cx="41148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078992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  Data Security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517904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in transit (Nginx)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at rest (DB + model artifacts)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PII in ML pipeline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within Ahadu Bank internal infra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9923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99232"/>
            <a:ext cx="4114800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99232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 Audit Trail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438144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login, upload, training, download logged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INSERT-only audit_logs table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user_id, action, IP, user_agent, status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retention policy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999232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99232"/>
            <a:ext cx="411480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99232"/>
            <a:ext cx="3895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⚖  AI Governance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438144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decision-support, not final authority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model outputs per prediction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challenge process documented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prevention &amp; fairness policies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Docker Compose — 7 Services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2743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15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4264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+ rate limit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26080" y="1280160"/>
            <a:ext cx="1280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280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nginx:alpine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Port :80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206654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66544"/>
            <a:ext cx="274320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03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4140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standalone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0" y="2267712"/>
            <a:ext cx="1280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Node alpine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Port :3000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05409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54096"/>
            <a:ext cx="274320" cy="80467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0906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4 workers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255264"/>
            <a:ext cx="1280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0" y="32552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Python 3.12-slim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Port :8000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041648"/>
            <a:ext cx="2743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4078224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celery_worker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" y="4389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task execution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0" y="4242816"/>
            <a:ext cx="1280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24281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same as backend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Port 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1078992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78992"/>
            <a:ext cx="274320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1115568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celery_beat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56632" y="14264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 scheduler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60920" y="1280160"/>
            <a:ext cx="1280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0920" y="1280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same as backend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Port —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2066544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066544"/>
            <a:ext cx="274320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21031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56632" y="24140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60920" y="2267712"/>
            <a:ext cx="1280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60920" y="22677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mysql:8.0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Port :3306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3054096"/>
            <a:ext cx="41148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054096"/>
            <a:ext cx="274320" cy="8046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56632" y="3090672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56632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broker + cache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60920" y="3255264"/>
            <a:ext cx="12801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32552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redis:7-alpine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</a:rPr>
              <a:t>Port :6379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1605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9B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Requirements: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ML+API — 8-core / 32GB RAM / 500GB SSD  •  DB — 4-core / 16GB RAM / 1TB HDD+RAID  •  OS: Ubuntu 22.04 LTS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TRACEABILITY &amp;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 Analysis &amp; Feature Mapping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20240" cy="77724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4996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B0BB"/>
                </a:solidFill>
              </a:rPr>
              <a:t>Total Rows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920240" cy="77724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789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23160" y="14996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B0BB"/>
                </a:solidFill>
              </a:rPr>
              <a:t>Train/Test Split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1920240" cy="77724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789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2022–Jun 2025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14996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B0BB"/>
                </a:solidFill>
              </a:rPr>
              <a:t>Time Period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051560"/>
            <a:ext cx="1920240" cy="777240"/>
          </a:xfrm>
          <a:prstGeom prst="rect">
            <a:avLst/>
          </a:prstGeom>
          <a:solidFill>
            <a:srgbClr val="620D1F"/>
          </a:solidFill>
          <a:ln w="12700">
            <a:solidFill>
              <a:srgbClr val="620D1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10789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20840" y="14996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B0BB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9933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1535"/>
                </a:solidFill>
              </a:rPr>
              <a:t>Tier Distribution (500K rows)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77440"/>
            <a:ext cx="24688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487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</a:rPr>
              <a:t>MEDIUM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7614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39.7%  (198K rows)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017520" y="23774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017520" y="2377440"/>
            <a:ext cx="24688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487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</a:rPr>
              <a:t>HIGH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27614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31.8%  (159K rows)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760720" y="2377440"/>
            <a:ext cx="24688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2377440"/>
            <a:ext cx="24688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4871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</a:rPr>
              <a:t>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27614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28.5%  (143K rows)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74320" y="3493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1535"/>
                </a:solidFill>
              </a:rPr>
              <a:t>Top Feature Correlations with Performance Score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85876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858768"/>
            <a:ext cx="25603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85876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3504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csat_score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" y="40965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</a:rPr>
              <a:t>r = +0.914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08960" y="385876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08960" y="3858768"/>
            <a:ext cx="25603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0" y="385876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38144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active_user_rate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38144" y="40965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</a:rPr>
              <a:t>r = +0.913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385876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0" y="3858768"/>
            <a:ext cx="25603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385876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72784" y="389534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complaint_resolution_rate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272784" y="409651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</a:rPr>
              <a:t>r = +0.91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40740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4407408"/>
            <a:ext cx="25603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407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3504" y="44439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failed_txn_rate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03504" y="464515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r = -0.888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108960" y="440740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108960" y="4407408"/>
            <a:ext cx="25603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0" y="4407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−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438144" y="44439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fraud_incidents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438144" y="464515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r = -0.878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943600" y="4407408"/>
            <a:ext cx="2651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943600" y="4407408"/>
            <a:ext cx="256032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4407408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−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72784" y="4443984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api_error_rate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72784" y="464515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r = -0.863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2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A01535">
              <a:alpha val="40000"/>
            </a:srgbClr>
          </a:solidFill>
          <a:ln w="12700">
            <a:solidFill>
              <a:srgbClr val="A01535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C41E3A">
              <a:alpha val="28000"/>
            </a:srgbClr>
          </a:solidFill>
          <a:ln w="12700">
            <a:solidFill>
              <a:srgbClr val="C41E3A">
                <a:alpha val="2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AHADU PULSE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9B0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Digital Banking Product Evaluation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176272"/>
            <a:ext cx="274320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Classifier Accuracy ≥ 85%  →  99.70%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797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Regressor R² ≥ 0.80  →  0.9577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1638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KNN F1 ≥ 0.80  →  0.9960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0" y="239572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Random Forest F1 ≥ 0.83  →  0.9923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27797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Decision Tree F1 ≥ 0.80  →  0.9517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31638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Regressor MAE ≤ 5.0 pts  →  3.09 pts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239572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9 BRD Thresholds Passed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17920" y="27797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Production Deployment Ready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7920" y="316382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NBE Compliance Aligned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solidFill>
            <a:srgbClr val="A01535"/>
          </a:solidFill>
          <a:ln w="12700">
            <a:solidFill>
              <a:srgbClr val="A015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590288"/>
            <a:ext cx="914400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Ahadu Bank S.C.  •  Digital Banking Department  •  v1.0.0  •  Build v20260604_120849  •  June 4,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1383</Words>
  <Application>Microsoft Office PowerPoint</Application>
  <PresentationFormat>On-screen Show (16:9)</PresentationFormat>
  <Paragraphs>448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AHADU PULSE — AI-Powered Digital Banking Evaluation Platform</dc:title>
  <dc:subject>PptxGenJS Presentation</dc:subject>
  <dc:creator>Ahadu Bank S.C.</dc:creator>
  <cp:lastModifiedBy>ismail - [2010]</cp:lastModifiedBy>
  <cp:revision>2</cp:revision>
  <dcterms:created xsi:type="dcterms:W3CDTF">2026-06-05T21:01:56Z</dcterms:created>
  <dcterms:modified xsi:type="dcterms:W3CDTF">2026-06-05T21:09:23Z</dcterms:modified>
</cp:coreProperties>
</file>